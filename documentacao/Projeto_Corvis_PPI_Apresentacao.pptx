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9" r:id="rId12"/>
    <p:sldId id="270" r:id="rId13"/>
    <p:sldId id="272" r:id="rId14"/>
    <p:sldId id="275" r:id="rId15"/>
    <p:sldId id="276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2E7E32C3-0725-492E-8AB4-56E80ABCEA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33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7550734-D37D-44D6-A3D9-B429C36420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4E9F3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B0288D9-5550-42CC-9A8F-1841FD2A4855}"/>
              </a:ext>
            </a:extLst>
          </p:cNvPr>
          <p:cNvSpPr>
            <a:spLocks noGrp="1"/>
          </p:cNvSpPr>
          <p:nvPr/>
        </p:nvSpPr>
        <p:spPr>
          <a:xfrm>
            <a:off x="5286375" y="0"/>
            <a:ext cx="1619250" cy="457200"/>
          </a:xfrm>
          <a:prstGeom prst="rect">
            <a:avLst/>
          </a:prstGeom>
          <a:solidFill>
            <a:srgbClr val="4E9F38"/>
          </a:solidFill>
          <a:ln w="19050">
            <a:solidFill>
              <a:srgbClr val="76B3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B4F87BB-B4C0-4612-847B-3545DAC601C8}"/>
              </a:ext>
            </a:extLst>
          </p:cNvPr>
          <p:cNvSpPr>
            <a:spLocks noGrp="1"/>
          </p:cNvSpPr>
          <p:nvPr/>
        </p:nvSpPr>
        <p:spPr>
          <a:xfrm>
            <a:off x="5543550" y="123825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lang="pt-BR" sz="1050" b="1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APRESENTAÇÃO</a:t>
            </a:r>
            <a:endParaRPr sz="1050" b="1" dirty="0">
              <a:solidFill>
                <a:srgbClr val="F4F4F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F158AAC-8261-4130-A8F1-028BA2D11781}"/>
              </a:ext>
            </a:extLst>
          </p:cNvPr>
          <p:cNvSpPr>
            <a:spLocks noGrp="1"/>
          </p:cNvSpPr>
          <p:nvPr/>
        </p:nvSpPr>
        <p:spPr>
          <a:xfrm>
            <a:off x="533400" y="6400800"/>
            <a:ext cx="857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BEBEB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EBEBE"/>
                </a:solidFill>
                <a:latin typeface="Aptos"/>
                <a:ea typeface="Aptos"/>
                <a:cs typeface="Aptos"/>
              </a:rPr>
              <a:t>Corvis | Engenharia de Software - IFG | Projeto de Pesquisa e Inovação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ABCF107-5542-4933-923B-3FE9D739D447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609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BEBEB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EBEB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42950" y="1447800"/>
            <a:ext cx="2476500" cy="2476500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D30CB511-61F4-41A4-8783-2628EA6DB780}"/>
              </a:ext>
            </a:extLst>
          </p:cNvPr>
          <p:cNvSpPr>
            <a:spLocks noGrp="1"/>
          </p:cNvSpPr>
          <p:nvPr/>
        </p:nvSpPr>
        <p:spPr>
          <a:xfrm>
            <a:off x="4857750" y="1485900"/>
            <a:ext cx="523875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20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PROJETO</a:t>
            </a:r>
          </a:p>
          <a:p>
            <a:pPr algn="l">
              <a:defRPr sz="420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CORVIS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5408E73-769C-4AC2-BA4D-4EC92B1AC4CD}"/>
              </a:ext>
            </a:extLst>
          </p:cNvPr>
          <p:cNvSpPr>
            <a:spLocks noGrp="1"/>
          </p:cNvSpPr>
          <p:nvPr/>
        </p:nvSpPr>
        <p:spPr>
          <a:xfrm>
            <a:off x="4895850" y="3314700"/>
            <a:ext cx="54292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800" b="0">
                <a:solidFill>
                  <a:srgbClr val="D5D5D5"/>
                </a:solidFill>
                <a:latin typeface="Aptos"/>
                <a:ea typeface="Aptos"/>
                <a:cs typeface="Aptos"/>
              </a:defRPr>
            </a:pPr>
            <a:r>
              <a:rPr sz="1800" b="0" dirty="0" err="1">
                <a:solidFill>
                  <a:srgbClr val="D5D5D5"/>
                </a:solidFill>
                <a:latin typeface="Aptos"/>
                <a:ea typeface="Aptos"/>
                <a:cs typeface="Aptos"/>
              </a:rPr>
              <a:t>Projeto</a:t>
            </a:r>
            <a:r>
              <a:rPr sz="1800" b="0" dirty="0">
                <a:solidFill>
                  <a:srgbClr val="D5D5D5"/>
                </a:solidFill>
                <a:latin typeface="Aptos"/>
                <a:ea typeface="Aptos"/>
                <a:cs typeface="Aptos"/>
              </a:rPr>
              <a:t> de </a:t>
            </a:r>
            <a:r>
              <a:rPr sz="1800" b="0" dirty="0" err="1">
                <a:solidFill>
                  <a:srgbClr val="D5D5D5"/>
                </a:solidFill>
                <a:latin typeface="Aptos"/>
                <a:ea typeface="Aptos"/>
                <a:cs typeface="Aptos"/>
              </a:rPr>
              <a:t>Pesquisa</a:t>
            </a:r>
            <a:r>
              <a:rPr sz="1800" b="0" dirty="0">
                <a:solidFill>
                  <a:srgbClr val="D5D5D5"/>
                </a:solidFill>
                <a:latin typeface="Aptos"/>
                <a:ea typeface="Aptos"/>
                <a:cs typeface="Aptos"/>
              </a:rPr>
              <a:t> e </a:t>
            </a:r>
            <a:r>
              <a:rPr sz="1800" b="0" dirty="0" err="1">
                <a:solidFill>
                  <a:srgbClr val="D5D5D5"/>
                </a:solidFill>
                <a:latin typeface="Aptos"/>
                <a:ea typeface="Aptos"/>
                <a:cs typeface="Aptos"/>
              </a:rPr>
              <a:t>Inovação</a:t>
            </a:r>
            <a:endParaRPr sz="1800" b="0" dirty="0">
              <a:solidFill>
                <a:srgbClr val="D5D5D5"/>
              </a:solidFill>
              <a:latin typeface="Aptos"/>
              <a:ea typeface="Aptos"/>
              <a:cs typeface="Aptos"/>
            </a:endParaRPr>
          </a:p>
          <a:p>
            <a:pPr algn="l">
              <a:defRPr sz="1800" b="0">
                <a:solidFill>
                  <a:srgbClr val="D5D5D5"/>
                </a:solidFill>
                <a:latin typeface="Aptos"/>
                <a:ea typeface="Aptos"/>
                <a:cs typeface="Aptos"/>
              </a:defRPr>
            </a:pPr>
            <a:r>
              <a:rPr sz="1800" b="0" dirty="0" err="1">
                <a:solidFill>
                  <a:srgbClr val="D5D5D5"/>
                </a:solidFill>
                <a:latin typeface="Aptos"/>
                <a:ea typeface="Aptos"/>
                <a:cs typeface="Aptos"/>
              </a:rPr>
              <a:t>Engenharia</a:t>
            </a:r>
            <a:r>
              <a:rPr sz="1800" b="0" dirty="0">
                <a:solidFill>
                  <a:srgbClr val="D5D5D5"/>
                </a:solidFill>
                <a:latin typeface="Aptos"/>
                <a:ea typeface="Aptos"/>
                <a:cs typeface="Aptos"/>
              </a:rPr>
              <a:t> de Software - IFG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120EA64-86A1-4989-8AF9-7872CE435350}"/>
              </a:ext>
            </a:extLst>
          </p:cNvPr>
          <p:cNvSpPr>
            <a:spLocks noGrp="1"/>
          </p:cNvSpPr>
          <p:nvPr/>
        </p:nvSpPr>
        <p:spPr>
          <a:xfrm>
            <a:off x="4895850" y="4457700"/>
            <a:ext cx="6096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João Pedro Neto da Silva </a:t>
            </a:r>
            <a:endParaRPr lang="pt-BR" sz="1350" dirty="0">
              <a:solidFill>
                <a:srgbClr val="F4F4F4"/>
              </a:solidFill>
              <a:latin typeface="Aptos"/>
              <a:ea typeface="Aptos"/>
              <a:cs typeface="Aptos"/>
            </a:endParaRPr>
          </a:p>
          <a:p>
            <a:pPr algn="l">
              <a:defRPr sz="1350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lang="pt-BR" sz="1350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J</a:t>
            </a:r>
            <a:r>
              <a:rPr sz="1350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oão</a:t>
            </a:r>
            <a:r>
              <a:rPr sz="1350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Antonio André Barbosa Camilo</a:t>
            </a:r>
          </a:p>
        </p:txBody>
      </p:sp>
    </p:spTree>
    <p:extLst>
      <p:ext uri="{BB962C8B-B14F-4D97-AF65-F5344CB8AC3E}">
        <p14:creationId xmlns:p14="http://schemas.microsoft.com/office/powerpoint/2010/main" val="650584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E1FE5518-4071-481C-9A7F-9AA099BDDB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33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92A492F-B147-4C23-984C-60A9F7B0EC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4E9F3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2F28F77-4287-465A-BE9F-8F2E73C54C5C}"/>
              </a:ext>
            </a:extLst>
          </p:cNvPr>
          <p:cNvSpPr>
            <a:spLocks noGrp="1"/>
          </p:cNvSpPr>
          <p:nvPr/>
        </p:nvSpPr>
        <p:spPr>
          <a:xfrm>
            <a:off x="5286375" y="0"/>
            <a:ext cx="1619250" cy="457200"/>
          </a:xfrm>
          <a:prstGeom prst="rect">
            <a:avLst/>
          </a:prstGeom>
          <a:solidFill>
            <a:srgbClr val="4E9F38"/>
          </a:solidFill>
          <a:ln w="19050">
            <a:solidFill>
              <a:srgbClr val="76B3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2551204-9C3A-4B73-9210-F54EDFB5BD7B}"/>
              </a:ext>
            </a:extLst>
          </p:cNvPr>
          <p:cNvSpPr>
            <a:spLocks noGrp="1"/>
          </p:cNvSpPr>
          <p:nvPr/>
        </p:nvSpPr>
        <p:spPr>
          <a:xfrm>
            <a:off x="5543550" y="123825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CONTEXTO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6E2A515-99B0-46D8-9836-1C2FA6F1F41E}"/>
              </a:ext>
            </a:extLst>
          </p:cNvPr>
          <p:cNvSpPr>
            <a:spLocks noGrp="1"/>
          </p:cNvSpPr>
          <p:nvPr/>
        </p:nvSpPr>
        <p:spPr>
          <a:xfrm>
            <a:off x="533400" y="6400800"/>
            <a:ext cx="857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BEBEB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EBEBE"/>
                </a:solidFill>
                <a:latin typeface="Aptos"/>
                <a:ea typeface="Aptos"/>
                <a:cs typeface="Aptos"/>
              </a:rPr>
              <a:t>Corvis | Engenharia de Software - IFG | Projeto de Pesquisa e Inovação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D59D06D-7304-4255-8027-527FC01E9D27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609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BEBEB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EBEB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pic>
        <p:nvPicPr>
          <p:cNvPr id="18" name="Gráfico 1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914400" y="1809750"/>
            <a:ext cx="2238375" cy="2238375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0C32E258-F555-4E30-BFA8-F07CC5023D59}"/>
              </a:ext>
            </a:extLst>
          </p:cNvPr>
          <p:cNvSpPr>
            <a:spLocks noGrp="1"/>
          </p:cNvSpPr>
          <p:nvPr/>
        </p:nvSpPr>
        <p:spPr>
          <a:xfrm>
            <a:off x="4762500" y="781050"/>
            <a:ext cx="6858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8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INTRODUÇÃO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C54F7FB-ECE9-463D-8BDF-2495398688FD}"/>
              </a:ext>
            </a:extLst>
          </p:cNvPr>
          <p:cNvSpPr>
            <a:spLocks noGrp="1"/>
          </p:cNvSpPr>
          <p:nvPr/>
        </p:nvSpPr>
        <p:spPr>
          <a:xfrm>
            <a:off x="4953000" y="1905000"/>
            <a:ext cx="5810250" cy="2667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A pandemia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acelerou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a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migracao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de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atividades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presenciais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para ambientes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digitais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O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crescimento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do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EaD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aumentou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a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demanda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por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plataformas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mais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flexiveis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e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atrativas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A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aprendizagem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online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precisa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lidar com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concentracao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,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acompanhamento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e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continuidade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7EEBCC2D-B033-4D66-BA68-3D0B128AD026}"/>
              </a:ext>
            </a:extLst>
          </p:cNvPr>
          <p:cNvSpPr>
            <a:spLocks noGrp="1"/>
          </p:cNvSpPr>
          <p:nvPr/>
        </p:nvSpPr>
        <p:spPr>
          <a:xfrm>
            <a:off x="4953000" y="4953000"/>
            <a:ext cx="5810250" cy="723900"/>
          </a:xfrm>
          <a:prstGeom prst="roundRect">
            <a:avLst>
              <a:gd name="adj" fmla="val 10526"/>
            </a:avLst>
          </a:prstGeom>
          <a:solidFill>
            <a:srgbClr val="3D3D3D"/>
          </a:solidFill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0F75FAE-4DB7-4990-A83D-C6DA7BAB60D6}"/>
              </a:ext>
            </a:extLst>
          </p:cNvPr>
          <p:cNvSpPr>
            <a:spLocks noGrp="1"/>
          </p:cNvSpPr>
          <p:nvPr/>
        </p:nvSpPr>
        <p:spPr>
          <a:xfrm>
            <a:off x="5200650" y="5105400"/>
            <a:ext cx="5334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E8F1E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8F1E3"/>
                </a:solidFill>
                <a:latin typeface="Aptos"/>
                <a:ea typeface="Aptos"/>
                <a:cs typeface="Aptos"/>
              </a:rPr>
              <a:t>Ponto de partida: transformar trilhas de estudo em experiencias mais visuais, progressivas e motivadoras.</a:t>
            </a:r>
          </a:p>
        </p:txBody>
      </p:sp>
    </p:spTree>
    <p:extLst>
      <p:ext uri="{BB962C8B-B14F-4D97-AF65-F5344CB8AC3E}">
        <p14:creationId xmlns:p14="http://schemas.microsoft.com/office/powerpoint/2010/main" val="85974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809E9C2F-63F4-4F34-BFAA-00823AAEAC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33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2FB4065-0DA6-421D-A546-C575BEB216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4E9F3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7328F53-1A93-47BC-BECC-6F18CF0B79B6}"/>
              </a:ext>
            </a:extLst>
          </p:cNvPr>
          <p:cNvSpPr>
            <a:spLocks noGrp="1"/>
          </p:cNvSpPr>
          <p:nvPr/>
        </p:nvSpPr>
        <p:spPr>
          <a:xfrm>
            <a:off x="5286375" y="0"/>
            <a:ext cx="1619250" cy="457200"/>
          </a:xfrm>
          <a:prstGeom prst="rect">
            <a:avLst/>
          </a:prstGeom>
          <a:solidFill>
            <a:srgbClr val="4E9F38"/>
          </a:solidFill>
          <a:ln w="19050">
            <a:solidFill>
              <a:srgbClr val="76B3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EFFA9FD-0656-4AB2-BCBE-85EA32829AEC}"/>
              </a:ext>
            </a:extLst>
          </p:cNvPr>
          <p:cNvSpPr>
            <a:spLocks noGrp="1"/>
          </p:cNvSpPr>
          <p:nvPr/>
        </p:nvSpPr>
        <p:spPr>
          <a:xfrm>
            <a:off x="5543550" y="123825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PESQUISA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B1B6621-5319-43C0-9A71-1567D00CA704}"/>
              </a:ext>
            </a:extLst>
          </p:cNvPr>
          <p:cNvSpPr>
            <a:spLocks noGrp="1"/>
          </p:cNvSpPr>
          <p:nvPr/>
        </p:nvSpPr>
        <p:spPr>
          <a:xfrm>
            <a:off x="533400" y="6400800"/>
            <a:ext cx="857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BEBEB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EBEBE"/>
                </a:solidFill>
                <a:latin typeface="Aptos"/>
                <a:ea typeface="Aptos"/>
                <a:cs typeface="Aptos"/>
              </a:rPr>
              <a:t>Corvis | Engenharia de Software - IFG | Projeto de Pesquisa e Inovação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F034D45-A9C0-4AC1-BF97-75FFA175D238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609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BEBEB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EBEB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pic>
        <p:nvPicPr>
          <p:cNvPr id="16" name="Gráfico 1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914400" y="1809750"/>
            <a:ext cx="2238375" cy="2238375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2FC31040-CAD2-4029-9F56-E2A1AEF8C756}"/>
              </a:ext>
            </a:extLst>
          </p:cNvPr>
          <p:cNvSpPr>
            <a:spLocks noGrp="1"/>
          </p:cNvSpPr>
          <p:nvPr/>
        </p:nvSpPr>
        <p:spPr>
          <a:xfrm>
            <a:off x="4762500" y="781050"/>
            <a:ext cx="6858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8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PROBLEMA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63CB1E0-93AC-4D91-86B1-28F92A5CD56F}"/>
              </a:ext>
            </a:extLst>
          </p:cNvPr>
          <p:cNvSpPr>
            <a:spLocks noGrp="1"/>
          </p:cNvSpPr>
          <p:nvPr/>
        </p:nvSpPr>
        <p:spPr>
          <a:xfrm>
            <a:off x="4953000" y="1905000"/>
            <a:ext cx="5810250" cy="2667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Muitas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soluções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gamificadas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são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focadas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em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conteúdos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ou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áreas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específicas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Professores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e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instituicoes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tem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pouca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liberdade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para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montar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percursos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personalizados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Ferramentas de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apoio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,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como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quizzes,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nem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sempre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colocam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a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gamificação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no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centro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da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experiência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A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falta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de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engajamento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permanece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como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desafio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no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ensino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online e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autodidata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9007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52B9C94F-E760-483D-A3B3-649A7A1922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33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293D17C-0E8E-4B14-B91D-B2FA74C500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4E9F3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A4B3F6E-78EF-4496-97A1-DDA0BDB180D6}"/>
              </a:ext>
            </a:extLst>
          </p:cNvPr>
          <p:cNvSpPr>
            <a:spLocks noGrp="1"/>
          </p:cNvSpPr>
          <p:nvPr/>
        </p:nvSpPr>
        <p:spPr>
          <a:xfrm>
            <a:off x="5286375" y="0"/>
            <a:ext cx="1619250" cy="457200"/>
          </a:xfrm>
          <a:prstGeom prst="rect">
            <a:avLst/>
          </a:prstGeom>
          <a:solidFill>
            <a:srgbClr val="4E9F38"/>
          </a:solidFill>
          <a:ln w="19050">
            <a:solidFill>
              <a:srgbClr val="76B3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7671E33-2CAA-44A1-B001-2C301E64688F}"/>
              </a:ext>
            </a:extLst>
          </p:cNvPr>
          <p:cNvSpPr>
            <a:spLocks noGrp="1"/>
          </p:cNvSpPr>
          <p:nvPr/>
        </p:nvSpPr>
        <p:spPr>
          <a:xfrm>
            <a:off x="5543550" y="123825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PESQUISA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ED5A464-1272-4BF6-831B-E6CCBE28B4E0}"/>
              </a:ext>
            </a:extLst>
          </p:cNvPr>
          <p:cNvSpPr>
            <a:spLocks noGrp="1"/>
          </p:cNvSpPr>
          <p:nvPr/>
        </p:nvSpPr>
        <p:spPr>
          <a:xfrm>
            <a:off x="533400" y="6400800"/>
            <a:ext cx="857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BEBEB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EBEBE"/>
                </a:solidFill>
                <a:latin typeface="Aptos"/>
                <a:ea typeface="Aptos"/>
                <a:cs typeface="Aptos"/>
              </a:rPr>
              <a:t>Corvis | Engenharia de Software - IFG | Projeto de Pesquisa e Inovação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16B963A-14F6-4044-8CC1-FC0F1FD1F160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609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BEBEB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EBEB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18" name="Gráfico 1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914400" y="1809750"/>
            <a:ext cx="2238375" cy="2238375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573717A5-9D36-4A31-A199-BAD59DFE52BC}"/>
              </a:ext>
            </a:extLst>
          </p:cNvPr>
          <p:cNvSpPr>
            <a:spLocks noGrp="1"/>
          </p:cNvSpPr>
          <p:nvPr/>
        </p:nvSpPr>
        <p:spPr>
          <a:xfrm>
            <a:off x="4762500" y="781050"/>
            <a:ext cx="6858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8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QUESTÃO DE PESQUISA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E5FD81E-B2E3-44BD-A396-5D3D97DBA899}"/>
              </a:ext>
            </a:extLst>
          </p:cNvPr>
          <p:cNvSpPr>
            <a:spLocks noGrp="1"/>
          </p:cNvSpPr>
          <p:nvPr/>
        </p:nvSpPr>
        <p:spPr>
          <a:xfrm>
            <a:off x="4953000" y="1905000"/>
            <a:ext cx="5810250" cy="2667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Como uma plataforma generica de trilhas gamificadas pode apoiar engajamento e acompanhamento de aprendizagem?</a:t>
            </a:r>
          </a:p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Quais recursos ajudam o aluno a perceber progresso e proxima etapa?</a:t>
            </a:r>
          </a:p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Como estruturar o software para evoluir de protótipo acadêmico para produto pesquisável?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A08D7FA-5234-480D-A28A-582366CA8BF4}"/>
              </a:ext>
            </a:extLst>
          </p:cNvPr>
          <p:cNvSpPr>
            <a:spLocks noGrp="1"/>
          </p:cNvSpPr>
          <p:nvPr/>
        </p:nvSpPr>
        <p:spPr>
          <a:xfrm>
            <a:off x="4953000" y="4953000"/>
            <a:ext cx="5810250" cy="723900"/>
          </a:xfrm>
          <a:prstGeom prst="roundRect">
            <a:avLst>
              <a:gd name="adj" fmla="val 10526"/>
            </a:avLst>
          </a:prstGeom>
          <a:solidFill>
            <a:srgbClr val="3D3D3D"/>
          </a:solidFill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4A88088-CD1C-4E0A-8012-FB8FCD0E36B9}"/>
              </a:ext>
            </a:extLst>
          </p:cNvPr>
          <p:cNvSpPr>
            <a:spLocks noGrp="1"/>
          </p:cNvSpPr>
          <p:nvPr/>
        </p:nvSpPr>
        <p:spPr>
          <a:xfrm>
            <a:off x="5200650" y="5105400"/>
            <a:ext cx="5334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E8F1E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8F1E3"/>
                </a:solidFill>
                <a:latin typeface="Aptos"/>
                <a:ea typeface="Aptos"/>
                <a:cs typeface="Aptos"/>
              </a:rPr>
              <a:t>Hipotese: fluxo visual, XP e conquistas aumentam clareza de percurso e intencao de continuidade.</a:t>
            </a:r>
          </a:p>
        </p:txBody>
      </p:sp>
    </p:spTree>
    <p:extLst>
      <p:ext uri="{BB962C8B-B14F-4D97-AF65-F5344CB8AC3E}">
        <p14:creationId xmlns:p14="http://schemas.microsoft.com/office/powerpoint/2010/main" val="332018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08557163-1261-4316-BE84-F773D51BBB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33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C0F72C2-4B00-4A6F-B3FA-CE9E639D18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4E9F3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C217619-DB37-45CE-975C-9F0ACEB05441}"/>
              </a:ext>
            </a:extLst>
          </p:cNvPr>
          <p:cNvSpPr>
            <a:spLocks noGrp="1"/>
          </p:cNvSpPr>
          <p:nvPr/>
        </p:nvSpPr>
        <p:spPr>
          <a:xfrm>
            <a:off x="5286375" y="0"/>
            <a:ext cx="1619250" cy="457200"/>
          </a:xfrm>
          <a:prstGeom prst="rect">
            <a:avLst/>
          </a:prstGeom>
          <a:solidFill>
            <a:srgbClr val="4E9F38"/>
          </a:solidFill>
          <a:ln w="19050">
            <a:solidFill>
              <a:srgbClr val="76B3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776B5EF-C4D8-4D64-B065-6CB1422C0C74}"/>
              </a:ext>
            </a:extLst>
          </p:cNvPr>
          <p:cNvSpPr>
            <a:spLocks noGrp="1"/>
          </p:cNvSpPr>
          <p:nvPr/>
        </p:nvSpPr>
        <p:spPr>
          <a:xfrm>
            <a:off x="5543550" y="123825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SOLUÇÃO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D0A907C-DEA7-4F5B-9357-5AFA28D7C18C}"/>
              </a:ext>
            </a:extLst>
          </p:cNvPr>
          <p:cNvSpPr>
            <a:spLocks noGrp="1"/>
          </p:cNvSpPr>
          <p:nvPr/>
        </p:nvSpPr>
        <p:spPr>
          <a:xfrm>
            <a:off x="533400" y="6400800"/>
            <a:ext cx="857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BEBEB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EBEBE"/>
                </a:solidFill>
                <a:latin typeface="Aptos"/>
                <a:ea typeface="Aptos"/>
                <a:cs typeface="Aptos"/>
              </a:rPr>
              <a:t>Corvis | Engenharia de Software - IFG | Projeto de Pesquisa e Inovação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F2610CD-A595-4834-97B5-7FBE0A1764AB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609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BEBEB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EBEB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16" name="Gráfico 1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914400" y="1809750"/>
            <a:ext cx="2238375" cy="2238375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75A395EA-3756-434A-87FE-A78E6A5A71AF}"/>
              </a:ext>
            </a:extLst>
          </p:cNvPr>
          <p:cNvSpPr>
            <a:spLocks noGrp="1"/>
          </p:cNvSpPr>
          <p:nvPr/>
        </p:nvSpPr>
        <p:spPr>
          <a:xfrm>
            <a:off x="4762500" y="781050"/>
            <a:ext cx="6858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8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2850" b="1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O QUE FAZER?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15CDD39-33C3-43E4-9E7C-F34F30FD93BE}"/>
              </a:ext>
            </a:extLst>
          </p:cNvPr>
          <p:cNvSpPr>
            <a:spLocks noGrp="1"/>
          </p:cNvSpPr>
          <p:nvPr/>
        </p:nvSpPr>
        <p:spPr>
          <a:xfrm>
            <a:off x="4953000" y="1905000"/>
            <a:ext cx="5810250" cy="2667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Criar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uma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plataforma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gamificada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para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ensino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online e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autodidata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Permitir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criação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e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publicação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de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trilhas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de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aprendizagem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Aplicar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elementos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de videogame: XP,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níveis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,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conquistas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e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progresso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por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módulo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Oferecer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área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administrativa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para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gerenciamento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de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trilhas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,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categorias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e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usuários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7627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729F3FE6-B8E3-495F-A583-53ADEEC0A0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33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94A07B1-9026-489E-A824-3FE26E71D7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4E9F3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75CF487-60BE-494D-9C58-52C674425B30}"/>
              </a:ext>
            </a:extLst>
          </p:cNvPr>
          <p:cNvSpPr>
            <a:spLocks noGrp="1"/>
          </p:cNvSpPr>
          <p:nvPr/>
        </p:nvSpPr>
        <p:spPr>
          <a:xfrm>
            <a:off x="5286375" y="0"/>
            <a:ext cx="1619250" cy="457200"/>
          </a:xfrm>
          <a:prstGeom prst="rect">
            <a:avLst/>
          </a:prstGeom>
          <a:solidFill>
            <a:srgbClr val="4E9F38"/>
          </a:solidFill>
          <a:ln w="19050">
            <a:solidFill>
              <a:srgbClr val="76B3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8AB57E6-71C8-4FE5-8226-B278AE3612D1}"/>
              </a:ext>
            </a:extLst>
          </p:cNvPr>
          <p:cNvSpPr>
            <a:spLocks noGrp="1"/>
          </p:cNvSpPr>
          <p:nvPr/>
        </p:nvSpPr>
        <p:spPr>
          <a:xfrm>
            <a:off x="5543550" y="123825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BASE TEÓRICA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413B60F-A5AF-49BE-B9FF-F19E245D21F6}"/>
              </a:ext>
            </a:extLst>
          </p:cNvPr>
          <p:cNvSpPr>
            <a:spLocks noGrp="1"/>
          </p:cNvSpPr>
          <p:nvPr/>
        </p:nvSpPr>
        <p:spPr>
          <a:xfrm>
            <a:off x="533400" y="6400800"/>
            <a:ext cx="857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BEBEB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EBEBE"/>
                </a:solidFill>
                <a:latin typeface="Aptos"/>
                <a:ea typeface="Aptos"/>
                <a:cs typeface="Aptos"/>
              </a:rPr>
              <a:t>Corvis | Engenharia de Software - IFG | Projeto de Pesquisa e Inovação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F0F8586-1A09-4239-A443-4B7027F2B099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609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BEBEB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EBEB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16" name="Gráfico 1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914400" y="1809750"/>
            <a:ext cx="2238375" cy="2238375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DE3C5556-48CA-49C9-B1AC-4AF8D8BFA5B9}"/>
              </a:ext>
            </a:extLst>
          </p:cNvPr>
          <p:cNvSpPr>
            <a:spLocks noGrp="1"/>
          </p:cNvSpPr>
          <p:nvPr/>
        </p:nvSpPr>
        <p:spPr>
          <a:xfrm>
            <a:off x="4762500" y="781050"/>
            <a:ext cx="6858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8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2850" b="1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REFERENCIAL TEÓRICO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027C2EA-27C6-4F1C-87BF-782D70E683C5}"/>
              </a:ext>
            </a:extLst>
          </p:cNvPr>
          <p:cNvSpPr>
            <a:spLocks noGrp="1"/>
          </p:cNvSpPr>
          <p:nvPr/>
        </p:nvSpPr>
        <p:spPr>
          <a:xfrm>
            <a:off x="4953000" y="1905000"/>
            <a:ext cx="5810250" cy="2667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Gamificação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em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ambientes de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aprendizagem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: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pontos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,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recompensas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,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perfis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e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equilíbrio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de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desafio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GMCLMS: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evidências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de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maior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engajamento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e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desempenho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em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LMS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gamificado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Revisões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sistemáticas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apontam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pontos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, badges, leaderboards e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personalização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como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tendências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Estudos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recentes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reforçam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a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necessidade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de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plataformas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customizáveis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e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adequadas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ao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contexto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5651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1C898071-3145-41CE-9BA8-22ED5CDFAE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33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32BF325-B136-47AE-A738-F74841C678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4E9F3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20C2E27-6347-45E9-AAFA-AAB04AE8913D}"/>
              </a:ext>
            </a:extLst>
          </p:cNvPr>
          <p:cNvSpPr>
            <a:spLocks noGrp="1"/>
          </p:cNvSpPr>
          <p:nvPr/>
        </p:nvSpPr>
        <p:spPr>
          <a:xfrm>
            <a:off x="5286375" y="0"/>
            <a:ext cx="1619250" cy="457200"/>
          </a:xfrm>
          <a:prstGeom prst="rect">
            <a:avLst/>
          </a:prstGeom>
          <a:solidFill>
            <a:srgbClr val="4E9F38"/>
          </a:solidFill>
          <a:ln w="19050">
            <a:solidFill>
              <a:srgbClr val="76B3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F2D56F3-4899-4B17-9ABA-8C0CEA2A8453}"/>
              </a:ext>
            </a:extLst>
          </p:cNvPr>
          <p:cNvSpPr>
            <a:spLocks noGrp="1"/>
          </p:cNvSpPr>
          <p:nvPr/>
        </p:nvSpPr>
        <p:spPr>
          <a:xfrm>
            <a:off x="5543550" y="123825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OBJETIVOS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754756A-5B68-48CC-8576-47BB0972C73A}"/>
              </a:ext>
            </a:extLst>
          </p:cNvPr>
          <p:cNvSpPr>
            <a:spLocks noGrp="1"/>
          </p:cNvSpPr>
          <p:nvPr/>
        </p:nvSpPr>
        <p:spPr>
          <a:xfrm>
            <a:off x="533400" y="6400800"/>
            <a:ext cx="857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BEBEB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EBEBE"/>
                </a:solidFill>
                <a:latin typeface="Aptos"/>
                <a:ea typeface="Aptos"/>
                <a:cs typeface="Aptos"/>
              </a:rPr>
              <a:t>Corvis | Engenharia de Software - IFG | Projeto de Pesquisa e Inovação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EE48992-3ABA-43A9-B723-2BE4E71F914B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609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BEBEB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EBEB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16" name="Gráfico 1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914400" y="1809750"/>
            <a:ext cx="2238375" cy="2238375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183FB3F5-2C47-423F-98B6-C33F6A54D4FA}"/>
              </a:ext>
            </a:extLst>
          </p:cNvPr>
          <p:cNvSpPr>
            <a:spLocks noGrp="1"/>
          </p:cNvSpPr>
          <p:nvPr/>
        </p:nvSpPr>
        <p:spPr>
          <a:xfrm>
            <a:off x="4762500" y="781050"/>
            <a:ext cx="6858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8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2850" b="1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OBJETIVOS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10516ED-A22F-4801-B67E-0AD95318D7EF}"/>
              </a:ext>
            </a:extLst>
          </p:cNvPr>
          <p:cNvSpPr>
            <a:spLocks noGrp="1"/>
          </p:cNvSpPr>
          <p:nvPr/>
        </p:nvSpPr>
        <p:spPr>
          <a:xfrm>
            <a:off x="4953000" y="1905000"/>
            <a:ext cx="5810250" cy="2667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Desenvolver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uma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plataforma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web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gamificada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para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trilhas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de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aprendizagem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Modelar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perfis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de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aluno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e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administrador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para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uso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educacional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Implementar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progresso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,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módulos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, XP,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níveis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e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conquistas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Avaliar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tecnicamente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a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arquitetura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, a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qualidade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e as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possibilidades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de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evolução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para TCC.</a:t>
            </a:r>
          </a:p>
        </p:txBody>
      </p:sp>
    </p:spTree>
    <p:extLst>
      <p:ext uri="{BB962C8B-B14F-4D97-AF65-F5344CB8AC3E}">
        <p14:creationId xmlns:p14="http://schemas.microsoft.com/office/powerpoint/2010/main" val="1041649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73A4B9C-2048-4B8A-8CCA-8DCC048F0E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33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E032807-B40F-4973-BA6E-AF81297D59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4E9F3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3AE4B7E-8B9F-4CD1-AC1C-9AFB5D7B89C9}"/>
              </a:ext>
            </a:extLst>
          </p:cNvPr>
          <p:cNvSpPr>
            <a:spLocks noGrp="1"/>
          </p:cNvSpPr>
          <p:nvPr/>
        </p:nvSpPr>
        <p:spPr>
          <a:xfrm>
            <a:off x="5286375" y="0"/>
            <a:ext cx="1619250" cy="457200"/>
          </a:xfrm>
          <a:prstGeom prst="rect">
            <a:avLst/>
          </a:prstGeom>
          <a:solidFill>
            <a:srgbClr val="4E9F38"/>
          </a:solidFill>
          <a:ln w="19050">
            <a:solidFill>
              <a:srgbClr val="76B3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F57CC89-C071-477F-8244-95C91D6F3CF9}"/>
              </a:ext>
            </a:extLst>
          </p:cNvPr>
          <p:cNvSpPr>
            <a:spLocks noGrp="1"/>
          </p:cNvSpPr>
          <p:nvPr/>
        </p:nvSpPr>
        <p:spPr>
          <a:xfrm>
            <a:off x="5543550" y="123825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ARQUITETURA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130D8D0-0E39-405F-A287-B72FC89FD5E0}"/>
              </a:ext>
            </a:extLst>
          </p:cNvPr>
          <p:cNvSpPr>
            <a:spLocks noGrp="1"/>
          </p:cNvSpPr>
          <p:nvPr/>
        </p:nvSpPr>
        <p:spPr>
          <a:xfrm>
            <a:off x="533400" y="6400800"/>
            <a:ext cx="857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BEBEB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EBEBE"/>
                </a:solidFill>
                <a:latin typeface="Aptos"/>
                <a:ea typeface="Aptos"/>
                <a:cs typeface="Aptos"/>
              </a:rPr>
              <a:t>Corvis | Engenharia de Software - IFG | Projeto de Pesquisa e Inovação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2365622-4977-495D-9378-558A18BB348C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609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BEBEB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EBEB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18F5CC1-1E22-4FC2-B102-A32133880A26}"/>
              </a:ext>
            </a:extLst>
          </p:cNvPr>
          <p:cNvSpPr>
            <a:spLocks noGrp="1"/>
          </p:cNvSpPr>
          <p:nvPr/>
        </p:nvSpPr>
        <p:spPr>
          <a:xfrm>
            <a:off x="4381500" y="685800"/>
            <a:ext cx="7239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8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ARQUITETURA IMPLEMENTADA</a:t>
            </a:r>
          </a:p>
        </p:txBody>
      </p:sp>
      <p:pic>
        <p:nvPicPr>
          <p:cNvPr id="31" name="Gráfico 3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62000" y="1657350"/>
            <a:ext cx="1809750" cy="1809750"/>
          </a:xfrm>
          <a:prstGeom prst="rect">
            <a:avLst/>
          </a:prstGeom>
        </p:spPr>
      </p:pic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2A5B0F2-38BD-43D1-902A-7A17DAC23F13}"/>
              </a:ext>
            </a:extLst>
          </p:cNvPr>
          <p:cNvSpPr>
            <a:spLocks noGrp="1"/>
          </p:cNvSpPr>
          <p:nvPr/>
        </p:nvSpPr>
        <p:spPr>
          <a:xfrm>
            <a:off x="1143000" y="4381500"/>
            <a:ext cx="2000250" cy="666750"/>
          </a:xfrm>
          <a:prstGeom prst="roundRect">
            <a:avLst>
              <a:gd name="adj" fmla="val 11429"/>
            </a:avLst>
          </a:prstGeom>
          <a:solidFill>
            <a:srgbClr val="3C3C3C"/>
          </a:solidFill>
          <a:ln w="1905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321A2F9-61B6-4571-9E07-E95E6413FCB1}"/>
              </a:ext>
            </a:extLst>
          </p:cNvPr>
          <p:cNvSpPr>
            <a:spLocks noGrp="1"/>
          </p:cNvSpPr>
          <p:nvPr/>
        </p:nvSpPr>
        <p:spPr>
          <a:xfrm>
            <a:off x="1257300" y="4476750"/>
            <a:ext cx="17716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Front</a:t>
            </a:r>
          </a:p>
          <a:p>
            <a:pPr algn="l">
              <a:defRPr sz="13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React/Vite + Nginx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7947ED23-5867-4A7C-8011-3B7952DE8334}"/>
              </a:ext>
            </a:extLst>
          </p:cNvPr>
          <p:cNvSpPr>
            <a:spLocks noGrp="1"/>
          </p:cNvSpPr>
          <p:nvPr/>
        </p:nvSpPr>
        <p:spPr>
          <a:xfrm>
            <a:off x="4000500" y="4381500"/>
            <a:ext cx="2000250" cy="666750"/>
          </a:xfrm>
          <a:prstGeom prst="roundRect">
            <a:avLst>
              <a:gd name="adj" fmla="val 11429"/>
            </a:avLst>
          </a:prstGeom>
          <a:solidFill>
            <a:srgbClr val="3C3C3C"/>
          </a:solidFill>
          <a:ln w="1905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E8595BF-7B10-4884-BF22-84071242763D}"/>
              </a:ext>
            </a:extLst>
          </p:cNvPr>
          <p:cNvSpPr>
            <a:spLocks noGrp="1"/>
          </p:cNvSpPr>
          <p:nvPr/>
        </p:nvSpPr>
        <p:spPr>
          <a:xfrm>
            <a:off x="4114800" y="4476750"/>
            <a:ext cx="17716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API Gateway</a:t>
            </a:r>
          </a:p>
          <a:p>
            <a:pPr algn="l">
              <a:defRPr sz="13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Spring Cloud Gateway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2335F2E-D4DD-4C9B-BA60-D0B83B53C7E6}"/>
              </a:ext>
            </a:extLst>
          </p:cNvPr>
          <p:cNvSpPr>
            <a:spLocks noGrp="1"/>
          </p:cNvSpPr>
          <p:nvPr/>
        </p:nvSpPr>
        <p:spPr>
          <a:xfrm>
            <a:off x="6858000" y="3143250"/>
            <a:ext cx="1619250" cy="647700"/>
          </a:xfrm>
          <a:prstGeom prst="roundRect">
            <a:avLst>
              <a:gd name="adj" fmla="val 11765"/>
            </a:avLst>
          </a:prstGeom>
          <a:solidFill>
            <a:srgbClr val="3C3C3C"/>
          </a:solidFill>
          <a:ln w="1905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132E61B-79B4-4D8E-9656-EAAE283F154D}"/>
              </a:ext>
            </a:extLst>
          </p:cNvPr>
          <p:cNvSpPr>
            <a:spLocks noGrp="1"/>
          </p:cNvSpPr>
          <p:nvPr/>
        </p:nvSpPr>
        <p:spPr>
          <a:xfrm>
            <a:off x="6972300" y="3238500"/>
            <a:ext cx="13906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Auth</a:t>
            </a:r>
          </a:p>
          <a:p>
            <a:pPr algn="l">
              <a:defRPr sz="13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JWT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F4A4E915-1A97-4C94-8F6D-5DD381A9D9EF}"/>
              </a:ext>
            </a:extLst>
          </p:cNvPr>
          <p:cNvSpPr>
            <a:spLocks noGrp="1"/>
          </p:cNvSpPr>
          <p:nvPr/>
        </p:nvSpPr>
        <p:spPr>
          <a:xfrm>
            <a:off x="8858250" y="3143250"/>
            <a:ext cx="1619250" cy="647700"/>
          </a:xfrm>
          <a:prstGeom prst="roundRect">
            <a:avLst>
              <a:gd name="adj" fmla="val 11765"/>
            </a:avLst>
          </a:prstGeom>
          <a:solidFill>
            <a:srgbClr val="3C3C3C"/>
          </a:solidFill>
          <a:ln w="1905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B9D4F83-7C46-4E27-AF7E-317C26CDF233}"/>
              </a:ext>
            </a:extLst>
          </p:cNvPr>
          <p:cNvSpPr>
            <a:spLocks noGrp="1"/>
          </p:cNvSpPr>
          <p:nvPr/>
        </p:nvSpPr>
        <p:spPr>
          <a:xfrm>
            <a:off x="8972550" y="3238500"/>
            <a:ext cx="13906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User</a:t>
            </a:r>
          </a:p>
          <a:p>
            <a:pPr algn="l">
              <a:defRPr sz="13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Alunos/Admin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74BF8C1F-C827-470A-AE09-05835255A199}"/>
              </a:ext>
            </a:extLst>
          </p:cNvPr>
          <p:cNvSpPr>
            <a:spLocks noGrp="1"/>
          </p:cNvSpPr>
          <p:nvPr/>
        </p:nvSpPr>
        <p:spPr>
          <a:xfrm>
            <a:off x="6858000" y="4762500"/>
            <a:ext cx="1619250" cy="647700"/>
          </a:xfrm>
          <a:prstGeom prst="roundRect">
            <a:avLst>
              <a:gd name="adj" fmla="val 11765"/>
            </a:avLst>
          </a:prstGeom>
          <a:solidFill>
            <a:srgbClr val="3C3C3C"/>
          </a:solidFill>
          <a:ln w="1905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62F00528-5151-4CDC-A18C-8C5054BB30F2}"/>
              </a:ext>
            </a:extLst>
          </p:cNvPr>
          <p:cNvSpPr>
            <a:spLocks noGrp="1"/>
          </p:cNvSpPr>
          <p:nvPr/>
        </p:nvSpPr>
        <p:spPr>
          <a:xfrm>
            <a:off x="6972300" y="4857750"/>
            <a:ext cx="13906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Trilha</a:t>
            </a:r>
          </a:p>
          <a:p>
            <a:pPr algn="l">
              <a:defRPr sz="13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Catalogo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A5BC1572-9B10-42F2-A34B-583E2CC36906}"/>
              </a:ext>
            </a:extLst>
          </p:cNvPr>
          <p:cNvSpPr>
            <a:spLocks noGrp="1"/>
          </p:cNvSpPr>
          <p:nvPr/>
        </p:nvSpPr>
        <p:spPr>
          <a:xfrm>
            <a:off x="8858250" y="4762500"/>
            <a:ext cx="1619250" cy="647700"/>
          </a:xfrm>
          <a:prstGeom prst="roundRect">
            <a:avLst>
              <a:gd name="adj" fmla="val 11765"/>
            </a:avLst>
          </a:prstGeom>
          <a:solidFill>
            <a:srgbClr val="3C3C3C"/>
          </a:solidFill>
          <a:ln w="1905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6175E229-43EB-477B-A82C-DCDA3EF6F0D6}"/>
              </a:ext>
            </a:extLst>
          </p:cNvPr>
          <p:cNvSpPr>
            <a:spLocks noGrp="1"/>
          </p:cNvSpPr>
          <p:nvPr/>
        </p:nvSpPr>
        <p:spPr>
          <a:xfrm>
            <a:off x="8972550" y="4857750"/>
            <a:ext cx="13906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Learning</a:t>
            </a:r>
          </a:p>
          <a:p>
            <a:pPr algn="l">
              <a:defRPr sz="13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Progresso/XP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680180A5-D930-4BFB-BCA2-EC44BF88A555}"/>
              </a:ext>
            </a:extLst>
          </p:cNvPr>
          <p:cNvSpPr>
            <a:spLocks noGrp="1"/>
          </p:cNvSpPr>
          <p:nvPr/>
        </p:nvSpPr>
        <p:spPr>
          <a:xfrm>
            <a:off x="7715250" y="5829300"/>
            <a:ext cx="2000250" cy="495300"/>
          </a:xfrm>
          <a:prstGeom prst="roundRect">
            <a:avLst>
              <a:gd name="adj" fmla="val 15385"/>
            </a:avLst>
          </a:prstGeom>
          <a:solidFill>
            <a:srgbClr val="E8F1E3"/>
          </a:solidFill>
          <a:ln w="19050">
            <a:solidFill>
              <a:srgbClr val="4E9F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FE74317-8CC7-49FC-979A-A4E6327758B9}"/>
              </a:ext>
            </a:extLst>
          </p:cNvPr>
          <p:cNvSpPr>
            <a:spLocks noGrp="1"/>
          </p:cNvSpPr>
          <p:nvPr/>
        </p:nvSpPr>
        <p:spPr>
          <a:xfrm>
            <a:off x="7829550" y="5924550"/>
            <a:ext cx="17716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PostgreSQL</a:t>
            </a:r>
          </a:p>
          <a:p>
            <a:pPr algn="l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 </a:t>
            </a:r>
            <a:r>
              <a:rPr sz="1200" b="1" dirty="0" err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bancos</a:t>
            </a:r>
            <a:r>
              <a:rPr sz="1200" b="1" dirty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 err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lógicos</a:t>
            </a:r>
            <a:endParaRPr sz="1200" b="1" dirty="0">
              <a:solidFill>
                <a:srgbClr val="11111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51B4E6FC-112E-4B34-BA43-09345D0F205F}"/>
              </a:ext>
            </a:extLst>
          </p:cNvPr>
          <p:cNvSpPr>
            <a:spLocks noGrp="1"/>
          </p:cNvSpPr>
          <p:nvPr/>
        </p:nvSpPr>
        <p:spPr>
          <a:xfrm>
            <a:off x="3238500" y="1695450"/>
            <a:ext cx="7429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650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Fluxo: usuário -&gt; frontend -&gt; gateway -&gt; microsserviços -&gt; banco.</a:t>
            </a:r>
          </a:p>
          <a:p>
            <a:pPr algn="l">
              <a:defRPr sz="1650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O gateway centraliza JWT, CORS, rotas e autorização por papel.</a:t>
            </a:r>
          </a:p>
        </p:txBody>
      </p:sp>
    </p:spTree>
    <p:extLst>
      <p:ext uri="{BB962C8B-B14F-4D97-AF65-F5344CB8AC3E}">
        <p14:creationId xmlns:p14="http://schemas.microsoft.com/office/powerpoint/2010/main" val="747103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7B334626-DE38-4DF0-B6C7-C2CAF523FF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33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8BE261C-C2AC-45B6-9D0A-D705238E2F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4E9F3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68EEB7B-0873-40D9-95B1-0A6B90BF1FFB}"/>
              </a:ext>
            </a:extLst>
          </p:cNvPr>
          <p:cNvSpPr>
            <a:spLocks noGrp="1"/>
          </p:cNvSpPr>
          <p:nvPr/>
        </p:nvSpPr>
        <p:spPr>
          <a:xfrm>
            <a:off x="5286375" y="0"/>
            <a:ext cx="1619250" cy="457200"/>
          </a:xfrm>
          <a:prstGeom prst="rect">
            <a:avLst/>
          </a:prstGeom>
          <a:solidFill>
            <a:srgbClr val="4E9F38"/>
          </a:solidFill>
          <a:ln w="19050">
            <a:solidFill>
              <a:srgbClr val="76B3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2E806E2-76E2-4DEB-95D1-7A6A19C5096F}"/>
              </a:ext>
            </a:extLst>
          </p:cNvPr>
          <p:cNvSpPr>
            <a:spLocks noGrp="1"/>
          </p:cNvSpPr>
          <p:nvPr/>
        </p:nvSpPr>
        <p:spPr>
          <a:xfrm>
            <a:off x="5543550" y="123825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24CC4DC-7DC1-4DA1-9582-8FBBB8606EC5}"/>
              </a:ext>
            </a:extLst>
          </p:cNvPr>
          <p:cNvSpPr>
            <a:spLocks noGrp="1"/>
          </p:cNvSpPr>
          <p:nvPr/>
        </p:nvSpPr>
        <p:spPr>
          <a:xfrm>
            <a:off x="533400" y="6400800"/>
            <a:ext cx="857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BEBEB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EBEBE"/>
                </a:solidFill>
                <a:latin typeface="Aptos"/>
                <a:ea typeface="Aptos"/>
                <a:cs typeface="Aptos"/>
              </a:rPr>
              <a:t>Corvis | Engenharia de Software - IFG | Projeto de Pesquisa e Inovação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10500BB-9ADE-4470-A353-33DB38E74ECE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609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BEBEB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EBEB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pic>
        <p:nvPicPr>
          <p:cNvPr id="30" name="Gráfico 2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81050" y="1762125"/>
            <a:ext cx="2000250" cy="2000250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F9861335-62E4-41A2-8A2D-BC61837A09F6}"/>
              </a:ext>
            </a:extLst>
          </p:cNvPr>
          <p:cNvSpPr>
            <a:spLocks noGrp="1"/>
          </p:cNvSpPr>
          <p:nvPr/>
        </p:nvSpPr>
        <p:spPr>
          <a:xfrm>
            <a:off x="4762500" y="781050"/>
            <a:ext cx="6858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8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MICROSSERVIÇOS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9826C3C-5406-4FB8-8C45-2EEC42824500}"/>
              </a:ext>
            </a:extLst>
          </p:cNvPr>
          <p:cNvSpPr>
            <a:spLocks noGrp="1"/>
          </p:cNvSpPr>
          <p:nvPr/>
        </p:nvSpPr>
        <p:spPr>
          <a:xfrm>
            <a:off x="4810125" y="1714500"/>
            <a:ext cx="1619250" cy="476250"/>
          </a:xfrm>
          <a:prstGeom prst="roundRect">
            <a:avLst>
              <a:gd name="adj" fmla="val 16000"/>
            </a:avLst>
          </a:prstGeom>
          <a:solidFill>
            <a:srgbClr val="4E9F3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B45934E-D38A-48B9-91B5-15B6D48524E9}"/>
              </a:ext>
            </a:extLst>
          </p:cNvPr>
          <p:cNvSpPr>
            <a:spLocks noGrp="1"/>
          </p:cNvSpPr>
          <p:nvPr/>
        </p:nvSpPr>
        <p:spPr>
          <a:xfrm>
            <a:off x="5000625" y="18288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50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Gateway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BB59FA8-E462-49BD-AA92-7ABE5E6E005E}"/>
              </a:ext>
            </a:extLst>
          </p:cNvPr>
          <p:cNvSpPr>
            <a:spLocks noGrp="1"/>
          </p:cNvSpPr>
          <p:nvPr/>
        </p:nvSpPr>
        <p:spPr>
          <a:xfrm>
            <a:off x="6715125" y="1809750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500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Roteamento, JWT, CORS e autorização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C29141E3-209D-4F62-94C0-54032C108BE9}"/>
              </a:ext>
            </a:extLst>
          </p:cNvPr>
          <p:cNvSpPr>
            <a:spLocks noGrp="1"/>
          </p:cNvSpPr>
          <p:nvPr/>
        </p:nvSpPr>
        <p:spPr>
          <a:xfrm>
            <a:off x="4810125" y="2428875"/>
            <a:ext cx="1619250" cy="476250"/>
          </a:xfrm>
          <a:prstGeom prst="roundRect">
            <a:avLst>
              <a:gd name="adj" fmla="val 16000"/>
            </a:avLst>
          </a:prstGeom>
          <a:solidFill>
            <a:srgbClr val="4E9F3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0D8FC79-3A64-4B99-AABD-399CD5FAAF8D}"/>
              </a:ext>
            </a:extLst>
          </p:cNvPr>
          <p:cNvSpPr>
            <a:spLocks noGrp="1"/>
          </p:cNvSpPr>
          <p:nvPr/>
        </p:nvSpPr>
        <p:spPr>
          <a:xfrm>
            <a:off x="5000625" y="2543175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50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Auth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64A3B1E-3170-4C0C-8094-CA719ACD6E6D}"/>
              </a:ext>
            </a:extLst>
          </p:cNvPr>
          <p:cNvSpPr>
            <a:spLocks noGrp="1"/>
          </p:cNvSpPr>
          <p:nvPr/>
        </p:nvSpPr>
        <p:spPr>
          <a:xfrm>
            <a:off x="6715125" y="2524125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500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Login, validação de senha e emissão de token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301E64CE-E9FC-41FA-870F-83D9834B7BBB}"/>
              </a:ext>
            </a:extLst>
          </p:cNvPr>
          <p:cNvSpPr>
            <a:spLocks noGrp="1"/>
          </p:cNvSpPr>
          <p:nvPr/>
        </p:nvSpPr>
        <p:spPr>
          <a:xfrm>
            <a:off x="4810125" y="3143250"/>
            <a:ext cx="1619250" cy="476250"/>
          </a:xfrm>
          <a:prstGeom prst="roundRect">
            <a:avLst>
              <a:gd name="adj" fmla="val 16000"/>
            </a:avLst>
          </a:prstGeom>
          <a:solidFill>
            <a:srgbClr val="4E9F3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158128A-9044-43AD-B244-65A2B9860A0A}"/>
              </a:ext>
            </a:extLst>
          </p:cNvPr>
          <p:cNvSpPr>
            <a:spLocks noGrp="1"/>
          </p:cNvSpPr>
          <p:nvPr/>
        </p:nvSpPr>
        <p:spPr>
          <a:xfrm>
            <a:off x="5000625" y="32575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50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D8CAEEB-84DC-4136-8105-E388823322F9}"/>
              </a:ext>
            </a:extLst>
          </p:cNvPr>
          <p:cNvSpPr>
            <a:spLocks noGrp="1"/>
          </p:cNvSpPr>
          <p:nvPr/>
        </p:nvSpPr>
        <p:spPr>
          <a:xfrm>
            <a:off x="6715125" y="3238500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500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Alunos, administradores, XP total e nível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21F969B7-9EDA-4514-B47A-E1925E361066}"/>
              </a:ext>
            </a:extLst>
          </p:cNvPr>
          <p:cNvSpPr>
            <a:spLocks noGrp="1"/>
          </p:cNvSpPr>
          <p:nvPr/>
        </p:nvSpPr>
        <p:spPr>
          <a:xfrm>
            <a:off x="4810125" y="3857625"/>
            <a:ext cx="1619250" cy="476250"/>
          </a:xfrm>
          <a:prstGeom prst="roundRect">
            <a:avLst>
              <a:gd name="adj" fmla="val 16000"/>
            </a:avLst>
          </a:prstGeom>
          <a:solidFill>
            <a:srgbClr val="4E9F3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960C217-951E-4DD2-B2C9-055A1EF5128A}"/>
              </a:ext>
            </a:extLst>
          </p:cNvPr>
          <p:cNvSpPr>
            <a:spLocks noGrp="1"/>
          </p:cNvSpPr>
          <p:nvPr/>
        </p:nvSpPr>
        <p:spPr>
          <a:xfrm>
            <a:off x="5000625" y="3971925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50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Trilha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747507E-DBA1-4B24-893B-B90743A90A50}"/>
              </a:ext>
            </a:extLst>
          </p:cNvPr>
          <p:cNvSpPr>
            <a:spLocks noGrp="1"/>
          </p:cNvSpPr>
          <p:nvPr/>
        </p:nvSpPr>
        <p:spPr>
          <a:xfrm>
            <a:off x="6715125" y="3952875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500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Categorias, trilhas, módulos e conquistas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96ECC146-E0E5-41DE-8225-96EFA51C8A21}"/>
              </a:ext>
            </a:extLst>
          </p:cNvPr>
          <p:cNvSpPr>
            <a:spLocks noGrp="1"/>
          </p:cNvSpPr>
          <p:nvPr/>
        </p:nvSpPr>
        <p:spPr>
          <a:xfrm>
            <a:off x="4810125" y="4572000"/>
            <a:ext cx="1619250" cy="476250"/>
          </a:xfrm>
          <a:prstGeom prst="roundRect">
            <a:avLst>
              <a:gd name="adj" fmla="val 16000"/>
            </a:avLst>
          </a:prstGeom>
          <a:solidFill>
            <a:srgbClr val="4E9F3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69184B88-9AAC-4F93-93BB-9CDD51B2F70F}"/>
              </a:ext>
            </a:extLst>
          </p:cNvPr>
          <p:cNvSpPr>
            <a:spLocks noGrp="1"/>
          </p:cNvSpPr>
          <p:nvPr/>
        </p:nvSpPr>
        <p:spPr>
          <a:xfrm>
            <a:off x="5000625" y="46863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50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Learning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9C816478-F75E-4403-B0D3-2ADE34998029}"/>
              </a:ext>
            </a:extLst>
          </p:cNvPr>
          <p:cNvSpPr>
            <a:spLocks noGrp="1"/>
          </p:cNvSpPr>
          <p:nvPr/>
        </p:nvSpPr>
        <p:spPr>
          <a:xfrm>
            <a:off x="6715125" y="4667250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500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Progresso, conclusão de módulos, XP e histórico</a:t>
            </a:r>
          </a:p>
        </p:txBody>
      </p:sp>
    </p:spTree>
    <p:extLst>
      <p:ext uri="{BB962C8B-B14F-4D97-AF65-F5344CB8AC3E}">
        <p14:creationId xmlns:p14="http://schemas.microsoft.com/office/powerpoint/2010/main" val="1825919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D44CA0F8-86B6-4DF6-A6D5-91E16CB35D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33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8C97FC2-0AAA-4B55-8029-F3A6BDAD1F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4E9F3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3884CF9-5BBB-45DE-939D-B60177539D5C}"/>
              </a:ext>
            </a:extLst>
          </p:cNvPr>
          <p:cNvSpPr>
            <a:spLocks noGrp="1"/>
          </p:cNvSpPr>
          <p:nvPr/>
        </p:nvSpPr>
        <p:spPr>
          <a:xfrm>
            <a:off x="5286375" y="0"/>
            <a:ext cx="1619250" cy="457200"/>
          </a:xfrm>
          <a:prstGeom prst="rect">
            <a:avLst/>
          </a:prstGeom>
          <a:solidFill>
            <a:srgbClr val="4E9F38"/>
          </a:solidFill>
          <a:ln w="19050">
            <a:solidFill>
              <a:srgbClr val="76B3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CBD11B9-BB29-4973-B197-9BD0E261C757}"/>
              </a:ext>
            </a:extLst>
          </p:cNvPr>
          <p:cNvSpPr>
            <a:spLocks noGrp="1"/>
          </p:cNvSpPr>
          <p:nvPr/>
        </p:nvSpPr>
        <p:spPr>
          <a:xfrm>
            <a:off x="5543550" y="123825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PRODUTO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9A780FB-98B8-4EBC-8A5C-64945896F4AD}"/>
              </a:ext>
            </a:extLst>
          </p:cNvPr>
          <p:cNvSpPr>
            <a:spLocks noGrp="1"/>
          </p:cNvSpPr>
          <p:nvPr/>
        </p:nvSpPr>
        <p:spPr>
          <a:xfrm>
            <a:off x="533400" y="6400800"/>
            <a:ext cx="857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BEBEB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EBEBE"/>
                </a:solidFill>
                <a:latin typeface="Aptos"/>
                <a:ea typeface="Aptos"/>
                <a:cs typeface="Aptos"/>
              </a:rPr>
              <a:t>Corvis | Engenharia de Software - IFG | Projeto de Pesquisa e Inovação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C7B0891-E42F-4D24-AA37-011054855228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609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BEBEB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EBEB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pic>
        <p:nvPicPr>
          <p:cNvPr id="16" name="Gráfico 1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914400" y="1809750"/>
            <a:ext cx="2238375" cy="2238375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854A2082-BE41-4992-A106-4B4F958BE757}"/>
              </a:ext>
            </a:extLst>
          </p:cNvPr>
          <p:cNvSpPr>
            <a:spLocks noGrp="1"/>
          </p:cNvSpPr>
          <p:nvPr/>
        </p:nvSpPr>
        <p:spPr>
          <a:xfrm>
            <a:off x="4762500" y="781050"/>
            <a:ext cx="6858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8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FUNCIONALIDADES ENTREGUES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D1DD7A9-FF21-434A-8A17-280154150318}"/>
              </a:ext>
            </a:extLst>
          </p:cNvPr>
          <p:cNvSpPr>
            <a:spLocks noGrp="1"/>
          </p:cNvSpPr>
          <p:nvPr/>
        </p:nvSpPr>
        <p:spPr>
          <a:xfrm>
            <a:off x="4953000" y="1905000"/>
            <a:ext cx="5810250" cy="2667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Cadastro e autenticação de alunos e administradores.</a:t>
            </a:r>
          </a:p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Listagem, criação e manutenção de trilhas, categorias, módulos e conquistas.</a:t>
            </a:r>
          </a:p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Visualização de trilha por fluxo interativo com módulo atual, bloqueado ou concluído.</a:t>
            </a:r>
          </a:p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Registro de progresso por usuário e trilha.</a:t>
            </a:r>
          </a:p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Geração de conquistas, XP acumulado e nível do aluno.</a:t>
            </a:r>
          </a:p>
        </p:txBody>
      </p:sp>
    </p:spTree>
    <p:extLst>
      <p:ext uri="{BB962C8B-B14F-4D97-AF65-F5344CB8AC3E}">
        <p14:creationId xmlns:p14="http://schemas.microsoft.com/office/powerpoint/2010/main" val="900775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FFCEED48-F01B-4534-9FA0-ED2A52A1AA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33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9607F83-5B5F-4CA5-A932-10DFB7F392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4E9F3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77E2447-1BDA-496C-83D2-172737F98E25}"/>
              </a:ext>
            </a:extLst>
          </p:cNvPr>
          <p:cNvSpPr>
            <a:spLocks noGrp="1"/>
          </p:cNvSpPr>
          <p:nvPr/>
        </p:nvSpPr>
        <p:spPr>
          <a:xfrm>
            <a:off x="5286375" y="0"/>
            <a:ext cx="1619250" cy="457200"/>
          </a:xfrm>
          <a:prstGeom prst="rect">
            <a:avLst/>
          </a:prstGeom>
          <a:solidFill>
            <a:srgbClr val="4E9F38"/>
          </a:solidFill>
          <a:ln w="19050">
            <a:solidFill>
              <a:srgbClr val="76B3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8AFD17F-750F-4631-95D5-3A22FE1E286C}"/>
              </a:ext>
            </a:extLst>
          </p:cNvPr>
          <p:cNvSpPr>
            <a:spLocks noGrp="1"/>
          </p:cNvSpPr>
          <p:nvPr/>
        </p:nvSpPr>
        <p:spPr>
          <a:xfrm>
            <a:off x="5543550" y="123825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ENGENHARIA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567FEC4-45A5-474C-9E54-01A40F9757AE}"/>
              </a:ext>
            </a:extLst>
          </p:cNvPr>
          <p:cNvSpPr>
            <a:spLocks noGrp="1"/>
          </p:cNvSpPr>
          <p:nvPr/>
        </p:nvSpPr>
        <p:spPr>
          <a:xfrm>
            <a:off x="533400" y="6400800"/>
            <a:ext cx="857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BEBEB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EBEBE"/>
                </a:solidFill>
                <a:latin typeface="Aptos"/>
                <a:ea typeface="Aptos"/>
                <a:cs typeface="Aptos"/>
              </a:rPr>
              <a:t>Corvis | Engenharia de Software - IFG | Projeto de Pesquisa e Inovação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A92FF56-8E3B-4A28-920D-8F5F229AB6F0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609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BEBEB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EBEB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pic>
        <p:nvPicPr>
          <p:cNvPr id="16" name="Gráfico 1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914400" y="1809750"/>
            <a:ext cx="2238375" cy="2238375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6E7EA342-DBA6-4F54-AEF7-E2926A54C982}"/>
              </a:ext>
            </a:extLst>
          </p:cNvPr>
          <p:cNvSpPr>
            <a:spLocks noGrp="1"/>
          </p:cNvSpPr>
          <p:nvPr/>
        </p:nvSpPr>
        <p:spPr>
          <a:xfrm>
            <a:off x="4762500" y="781050"/>
            <a:ext cx="6858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8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2850" b="1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DECISÕES </a:t>
            </a:r>
            <a:r>
              <a:rPr lang="pt-BR" sz="2850" b="1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DE PROJETO</a:t>
            </a:r>
            <a:endParaRPr sz="2850" b="1" dirty="0">
              <a:solidFill>
                <a:srgbClr val="F4F4F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10F852E-9320-4526-A7E6-A776ADD02592}"/>
              </a:ext>
            </a:extLst>
          </p:cNvPr>
          <p:cNvSpPr>
            <a:spLocks noGrp="1"/>
          </p:cNvSpPr>
          <p:nvPr/>
        </p:nvSpPr>
        <p:spPr>
          <a:xfrm>
            <a:off x="4953000" y="1905000"/>
            <a:ext cx="5810250" cy="2667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Separação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por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contextos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: Auth, User,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Trilha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, Learning e Gateway.</a:t>
            </a:r>
          </a:p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Gateway central para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segurança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,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roteamento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e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fronteira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da API.</a:t>
            </a:r>
          </a:p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DTOs e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ModelMapper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para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reduzir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exposição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direta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de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entidades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JPA/Hibernate com Flyway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em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User e Learning.</a:t>
            </a:r>
          </a:p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Docker Compose para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execução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local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reproduzível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ReactFlow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para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representar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a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trilha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como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F4F4F4"/>
                </a:solidFill>
                <a:latin typeface="Aptos"/>
                <a:ea typeface="Aptos"/>
                <a:cs typeface="Aptos"/>
              </a:rPr>
              <a:t>percurso</a:t>
            </a:r>
            <a:r>
              <a:rPr sz="1575" b="0" dirty="0">
                <a:solidFill>
                  <a:srgbClr val="F4F4F4"/>
                </a:solidFill>
                <a:latin typeface="Aptos"/>
                <a:ea typeface="Aptos"/>
                <a:cs typeface="Aptos"/>
              </a:rPr>
              <a:t> visual.</a:t>
            </a:r>
          </a:p>
        </p:txBody>
      </p:sp>
    </p:spTree>
    <p:extLst>
      <p:ext uri="{BB962C8B-B14F-4D97-AF65-F5344CB8AC3E}">
        <p14:creationId xmlns:p14="http://schemas.microsoft.com/office/powerpoint/2010/main" val="489493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9C705372-8E82-4CF2-8667-EF51F5BB13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33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27393DC-727A-4352-BDFA-D27BF97458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4E9F3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6B62F38-30B7-4469-808B-3677492B02DB}"/>
              </a:ext>
            </a:extLst>
          </p:cNvPr>
          <p:cNvSpPr>
            <a:spLocks noGrp="1"/>
          </p:cNvSpPr>
          <p:nvPr/>
        </p:nvSpPr>
        <p:spPr>
          <a:xfrm>
            <a:off x="5286375" y="0"/>
            <a:ext cx="1619250" cy="457200"/>
          </a:xfrm>
          <a:prstGeom prst="rect">
            <a:avLst/>
          </a:prstGeom>
          <a:solidFill>
            <a:srgbClr val="4E9F38"/>
          </a:solidFill>
          <a:ln w="19050">
            <a:solidFill>
              <a:srgbClr val="76B3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6F811BA-4664-4FB1-A9F4-B2C6E8618A94}"/>
              </a:ext>
            </a:extLst>
          </p:cNvPr>
          <p:cNvSpPr>
            <a:spLocks noGrp="1"/>
          </p:cNvSpPr>
          <p:nvPr/>
        </p:nvSpPr>
        <p:spPr>
          <a:xfrm>
            <a:off x="5543550" y="123825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QUALIDADE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E09BC96-431B-4630-83BC-142208818F04}"/>
              </a:ext>
            </a:extLst>
          </p:cNvPr>
          <p:cNvSpPr>
            <a:spLocks noGrp="1"/>
          </p:cNvSpPr>
          <p:nvPr/>
        </p:nvSpPr>
        <p:spPr>
          <a:xfrm>
            <a:off x="533400" y="6400800"/>
            <a:ext cx="857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BEBEB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EBEBE"/>
                </a:solidFill>
                <a:latin typeface="Aptos"/>
                <a:ea typeface="Aptos"/>
                <a:cs typeface="Aptos"/>
              </a:rPr>
              <a:t>Corvis | Engenharia de Software - IFG | Projeto de Pesquisa e Inovação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A993020-B19F-4876-9F7E-01469658C212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609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BEBEB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EBEBE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pic>
        <p:nvPicPr>
          <p:cNvPr id="16" name="Gráfico 1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914400" y="1809750"/>
            <a:ext cx="2238375" cy="2238375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07925195-B713-4F3A-AA86-5B13F8B927EA}"/>
              </a:ext>
            </a:extLst>
          </p:cNvPr>
          <p:cNvSpPr>
            <a:spLocks noGrp="1"/>
          </p:cNvSpPr>
          <p:nvPr/>
        </p:nvSpPr>
        <p:spPr>
          <a:xfrm>
            <a:off x="4762500" y="781050"/>
            <a:ext cx="6858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8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VALIDAÇÃO E QUALIDADE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4233AC0-CB00-4E66-B7D0-3150E56635D5}"/>
              </a:ext>
            </a:extLst>
          </p:cNvPr>
          <p:cNvSpPr>
            <a:spLocks noGrp="1"/>
          </p:cNvSpPr>
          <p:nvPr/>
        </p:nvSpPr>
        <p:spPr>
          <a:xfrm>
            <a:off x="4953000" y="1905000"/>
            <a:ext cx="5810250" cy="2667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Testes unitários de serviços com Mockito.</a:t>
            </a:r>
          </a:p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Testes de controladores com MockMvc.</a:t>
            </a:r>
          </a:p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Testes de inicialização de contexto Spring Boot.</a:t>
            </a:r>
          </a:p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Migrations versionadas para User e Learning.</a:t>
            </a:r>
          </a:p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Diagramas de fluxo, DER, caso de uso e classes como documentação de projeto.</a:t>
            </a:r>
          </a:p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❖ Dockerfiles multi-stage para frontend e backend.</a:t>
            </a:r>
          </a:p>
        </p:txBody>
      </p:sp>
    </p:spTree>
    <p:extLst>
      <p:ext uri="{BB962C8B-B14F-4D97-AF65-F5344CB8AC3E}">
        <p14:creationId xmlns:p14="http://schemas.microsoft.com/office/powerpoint/2010/main" val="111658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53F0E263-9C3F-44AA-B00F-FF5A6F3BFB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33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9A0AF6B-1F17-4616-9803-19F1B867F7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4E9F3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3710035-C11E-485B-B38F-3E8F5D4C41E1}"/>
              </a:ext>
            </a:extLst>
          </p:cNvPr>
          <p:cNvSpPr>
            <a:spLocks noGrp="1"/>
          </p:cNvSpPr>
          <p:nvPr/>
        </p:nvSpPr>
        <p:spPr>
          <a:xfrm>
            <a:off x="5286375" y="0"/>
            <a:ext cx="1619250" cy="457200"/>
          </a:xfrm>
          <a:prstGeom prst="rect">
            <a:avLst/>
          </a:prstGeom>
          <a:solidFill>
            <a:srgbClr val="4E9F38"/>
          </a:solidFill>
          <a:ln w="19050">
            <a:solidFill>
              <a:srgbClr val="76B3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400E6B6-109C-4A14-A5D9-AA4E85FC19DF}"/>
              </a:ext>
            </a:extLst>
          </p:cNvPr>
          <p:cNvSpPr>
            <a:spLocks noGrp="1"/>
          </p:cNvSpPr>
          <p:nvPr/>
        </p:nvSpPr>
        <p:spPr>
          <a:xfrm>
            <a:off x="5543550" y="123825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EVIDÊNCIAS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FF12C86-681F-470C-9C78-24E49C3F3ABF}"/>
              </a:ext>
            </a:extLst>
          </p:cNvPr>
          <p:cNvSpPr>
            <a:spLocks noGrp="1"/>
          </p:cNvSpPr>
          <p:nvPr/>
        </p:nvSpPr>
        <p:spPr>
          <a:xfrm>
            <a:off x="533400" y="6400800"/>
            <a:ext cx="857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BEBEB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EBEBE"/>
                </a:solidFill>
                <a:latin typeface="Aptos"/>
                <a:ea typeface="Aptos"/>
                <a:cs typeface="Aptos"/>
              </a:rPr>
              <a:t>Corvis | Engenharia de Software - IFG | Projeto de Pesquisa e Inovação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5E6B194-795F-43CC-93A5-31BF93B4035C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609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BEBEB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EBEBE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05C3CD5-C028-4CE0-8EA5-38A3E8504F21}"/>
              </a:ext>
            </a:extLst>
          </p:cNvPr>
          <p:cNvSpPr>
            <a:spLocks noGrp="1"/>
          </p:cNvSpPr>
          <p:nvPr/>
        </p:nvSpPr>
        <p:spPr>
          <a:xfrm>
            <a:off x="4381500" y="704850"/>
            <a:ext cx="7239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8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EVIDÊNCIAS DO PROJETO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A3A6D5B-10E6-42AE-AD3B-283C8B7C084C}"/>
              </a:ext>
            </a:extLst>
          </p:cNvPr>
          <p:cNvSpPr>
            <a:spLocks noGrp="1"/>
          </p:cNvSpPr>
          <p:nvPr/>
        </p:nvSpPr>
        <p:spPr>
          <a:xfrm>
            <a:off x="857250" y="1428750"/>
            <a:ext cx="9906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5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O repositório também contém artefatos de modelagem usados como evidências de engenharia: fluxo geral, DERs, classes e casos de uso.</a:t>
            </a:r>
          </a:p>
        </p:txBody>
      </p:sp>
      <p:pic>
        <p:nvPicPr>
          <p:cNvPr id="24" name="Imagem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63282" y="2266950"/>
            <a:ext cx="3045460" cy="2095500"/>
          </a:xfrm>
          <a:prstGeom prst="rect">
            <a:avLst/>
          </a:prstGeom>
        </p:spPr>
      </p:pic>
      <p:pic>
        <p:nvPicPr>
          <p:cNvPr id="25" name="Imagem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457700" y="2287200"/>
            <a:ext cx="2857500" cy="2055000"/>
          </a:xfrm>
          <a:prstGeom prst="rect">
            <a:avLst/>
          </a:prstGeom>
        </p:spPr>
      </p:pic>
      <p:pic>
        <p:nvPicPr>
          <p:cNvPr id="26" name="Imagem 2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180970" y="2266950"/>
            <a:ext cx="2116560" cy="2095500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0640B937-D079-4624-BF88-F8F9365A0222}"/>
              </a:ext>
            </a:extLst>
          </p:cNvPr>
          <p:cNvSpPr>
            <a:spLocks noGrp="1"/>
          </p:cNvSpPr>
          <p:nvPr/>
        </p:nvSpPr>
        <p:spPr>
          <a:xfrm>
            <a:off x="1571625" y="4524375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275" b="1">
                <a:solidFill>
                  <a:srgbClr val="D5D5D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5D5D5"/>
                </a:solidFill>
                <a:latin typeface="Aptos"/>
                <a:ea typeface="Aptos"/>
                <a:cs typeface="Aptos"/>
              </a:rPr>
              <a:t>Fluxograma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97412F8-6165-428F-9638-1ED01EE4A126}"/>
              </a:ext>
            </a:extLst>
          </p:cNvPr>
          <p:cNvSpPr>
            <a:spLocks noGrp="1"/>
          </p:cNvSpPr>
          <p:nvPr/>
        </p:nvSpPr>
        <p:spPr>
          <a:xfrm>
            <a:off x="5334000" y="4524375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275" b="1">
                <a:solidFill>
                  <a:srgbClr val="D5D5D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5D5D5"/>
                </a:solidFill>
                <a:latin typeface="Aptos"/>
                <a:ea typeface="Aptos"/>
                <a:cs typeface="Aptos"/>
              </a:rPr>
              <a:t>DER - User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10DB15E-01B4-4891-BEE7-4092DACFCC69}"/>
              </a:ext>
            </a:extLst>
          </p:cNvPr>
          <p:cNvSpPr>
            <a:spLocks noGrp="1"/>
          </p:cNvSpPr>
          <p:nvPr/>
        </p:nvSpPr>
        <p:spPr>
          <a:xfrm>
            <a:off x="8620125" y="4524375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275" b="1">
                <a:solidFill>
                  <a:srgbClr val="D5D5D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5D5D5"/>
                </a:solidFill>
                <a:latin typeface="Aptos"/>
                <a:ea typeface="Aptos"/>
                <a:cs typeface="Aptos"/>
              </a:rPr>
              <a:t>DER - Learning</a:t>
            </a:r>
          </a:p>
        </p:txBody>
      </p:sp>
      <p:pic>
        <p:nvPicPr>
          <p:cNvPr id="30" name="Imagem 2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311877" y="4953000"/>
            <a:ext cx="1377745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513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A6CB0840-F4B7-40BE-AC82-7AFDBFD698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33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9317382-FE3E-4312-BE37-C97CEB938B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4E9F3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99E7050-9110-4328-9A64-2DAE7173F509}"/>
              </a:ext>
            </a:extLst>
          </p:cNvPr>
          <p:cNvSpPr>
            <a:spLocks noGrp="1"/>
          </p:cNvSpPr>
          <p:nvPr/>
        </p:nvSpPr>
        <p:spPr>
          <a:xfrm>
            <a:off x="5286375" y="0"/>
            <a:ext cx="1619250" cy="457200"/>
          </a:xfrm>
          <a:prstGeom prst="rect">
            <a:avLst/>
          </a:prstGeom>
          <a:solidFill>
            <a:srgbClr val="4E9F38"/>
          </a:solidFill>
          <a:ln w="19050">
            <a:solidFill>
              <a:srgbClr val="76B3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1E044FA-1689-4E55-97D5-2FF5D500A0C9}"/>
              </a:ext>
            </a:extLst>
          </p:cNvPr>
          <p:cNvSpPr>
            <a:spLocks noGrp="1"/>
          </p:cNvSpPr>
          <p:nvPr/>
        </p:nvSpPr>
        <p:spPr>
          <a:xfrm>
            <a:off x="5543550" y="123825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CONCLUSÃO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2ADC780-0B18-43CC-9269-96DAB44EECE5}"/>
              </a:ext>
            </a:extLst>
          </p:cNvPr>
          <p:cNvSpPr>
            <a:spLocks noGrp="1"/>
          </p:cNvSpPr>
          <p:nvPr/>
        </p:nvSpPr>
        <p:spPr>
          <a:xfrm>
            <a:off x="533400" y="6400800"/>
            <a:ext cx="857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BEBEB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EBEBE"/>
                </a:solidFill>
                <a:latin typeface="Aptos"/>
                <a:ea typeface="Aptos"/>
                <a:cs typeface="Aptos"/>
              </a:rPr>
              <a:t>Corvis | Engenharia de Software - IFG | Projeto de Pesquisa e Inovação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F70D56F-DCA4-4F3C-A444-33E3DA0197B2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609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BEBEB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EBEBE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pic>
        <p:nvPicPr>
          <p:cNvPr id="23" name="Gráfico 2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81050" y="1809750"/>
            <a:ext cx="2047875" cy="2047875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6C458CA0-B1AA-42A7-87B6-6066C431A808}"/>
              </a:ext>
            </a:extLst>
          </p:cNvPr>
          <p:cNvSpPr>
            <a:spLocks noGrp="1"/>
          </p:cNvSpPr>
          <p:nvPr/>
        </p:nvSpPr>
        <p:spPr>
          <a:xfrm>
            <a:off x="4762500" y="781050"/>
            <a:ext cx="6858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8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CONCLUSÃO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6C9823D3-D1B0-45AB-8BB6-453002B7952C}"/>
              </a:ext>
            </a:extLst>
          </p:cNvPr>
          <p:cNvSpPr>
            <a:spLocks noGrp="1"/>
          </p:cNvSpPr>
          <p:nvPr/>
        </p:nvSpPr>
        <p:spPr>
          <a:xfrm>
            <a:off x="4572000" y="2000250"/>
            <a:ext cx="2381250" cy="1066800"/>
          </a:xfrm>
          <a:prstGeom prst="roundRect">
            <a:avLst>
              <a:gd name="adj" fmla="val 7143"/>
            </a:avLst>
          </a:prstGeom>
          <a:solidFill>
            <a:srgbClr val="ECEFE8"/>
          </a:solidFill>
          <a:ln w="19050">
            <a:solidFill>
              <a:srgbClr val="4E9F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34BF42F-6AAB-4CAD-95BB-B8478711EE73}"/>
              </a:ext>
            </a:extLst>
          </p:cNvPr>
          <p:cNvSpPr>
            <a:spLocks noGrp="1"/>
          </p:cNvSpPr>
          <p:nvPr/>
        </p:nvSpPr>
        <p:spPr>
          <a:xfrm>
            <a:off x="4743450" y="2190750"/>
            <a:ext cx="20383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 dirty="0" err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Saiu</a:t>
            </a:r>
            <a:r>
              <a:rPr sz="1350" b="1" dirty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de </a:t>
            </a:r>
            <a:r>
              <a:rPr sz="1350" b="1" dirty="0" err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uma</a:t>
            </a:r>
            <a:r>
              <a:rPr sz="1350" b="1" dirty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 dirty="0" err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proposta</a:t>
            </a:r>
            <a:r>
              <a:rPr sz="1350" b="1" dirty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 dirty="0" err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conceitual</a:t>
            </a:r>
            <a:r>
              <a:rPr sz="1350" b="1" dirty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para um </a:t>
            </a:r>
            <a:r>
              <a:rPr sz="1350" b="1" dirty="0" err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protótipo</a:t>
            </a:r>
            <a:r>
              <a:rPr sz="1350" b="1" dirty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 dirty="0" err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funcional</a:t>
            </a:r>
            <a:r>
              <a:rPr sz="1350" b="1" dirty="0">
                <a:solidFill>
                  <a:srgbClr val="111111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7463F7D5-D827-415B-9508-AC1F4286D8C9}"/>
              </a:ext>
            </a:extLst>
          </p:cNvPr>
          <p:cNvSpPr>
            <a:spLocks noGrp="1"/>
          </p:cNvSpPr>
          <p:nvPr/>
        </p:nvSpPr>
        <p:spPr>
          <a:xfrm>
            <a:off x="7524750" y="2000250"/>
            <a:ext cx="2381250" cy="1066800"/>
          </a:xfrm>
          <a:prstGeom prst="roundRect">
            <a:avLst>
              <a:gd name="adj" fmla="val 7143"/>
            </a:avLst>
          </a:prstGeom>
          <a:solidFill>
            <a:srgbClr val="ECEFE8"/>
          </a:solidFill>
          <a:ln w="19050">
            <a:solidFill>
              <a:srgbClr val="4E9F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0182BF8-D8A5-4C80-8CA4-85348E7261D0}"/>
              </a:ext>
            </a:extLst>
          </p:cNvPr>
          <p:cNvSpPr>
            <a:spLocks noGrp="1"/>
          </p:cNvSpPr>
          <p:nvPr/>
        </p:nvSpPr>
        <p:spPr>
          <a:xfrm>
            <a:off x="7696200" y="2190750"/>
            <a:ext cx="20383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 dirty="0" err="1">
                <a:solidFill>
                  <a:srgbClr val="111111"/>
                </a:solidFill>
                <a:latin typeface="Aptos"/>
                <a:ea typeface="Aptos"/>
                <a:cs typeface="Aptos"/>
              </a:rPr>
              <a:t>Entregou</a:t>
            </a:r>
            <a:r>
              <a:rPr sz="1350" b="1" dirty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 dirty="0" err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arquitetura</a:t>
            </a:r>
            <a:r>
              <a:rPr sz="1350" b="1" dirty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 dirty="0" err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distribuída</a:t>
            </a:r>
            <a:r>
              <a:rPr sz="1350" b="1" dirty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com gateway e </a:t>
            </a:r>
            <a:r>
              <a:rPr sz="1350" b="1" dirty="0" err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microsserviços</a:t>
            </a:r>
            <a:r>
              <a:rPr sz="1350" b="1" dirty="0">
                <a:solidFill>
                  <a:srgbClr val="111111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49903BAF-F284-4847-8C45-5D58D4EC8F91}"/>
              </a:ext>
            </a:extLst>
          </p:cNvPr>
          <p:cNvSpPr>
            <a:spLocks noGrp="1"/>
          </p:cNvSpPr>
          <p:nvPr/>
        </p:nvSpPr>
        <p:spPr>
          <a:xfrm>
            <a:off x="4572000" y="3429000"/>
            <a:ext cx="2381250" cy="1066800"/>
          </a:xfrm>
          <a:prstGeom prst="roundRect">
            <a:avLst>
              <a:gd name="adj" fmla="val 7143"/>
            </a:avLst>
          </a:prstGeom>
          <a:solidFill>
            <a:srgbClr val="ECEFE8"/>
          </a:solidFill>
          <a:ln w="19050">
            <a:solidFill>
              <a:srgbClr val="4E9F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D856E29-A159-4357-A0CD-D3266CAABA86}"/>
              </a:ext>
            </a:extLst>
          </p:cNvPr>
          <p:cNvSpPr>
            <a:spLocks noGrp="1"/>
          </p:cNvSpPr>
          <p:nvPr/>
        </p:nvSpPr>
        <p:spPr>
          <a:xfrm>
            <a:off x="4743450" y="3619500"/>
            <a:ext cx="20383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Implementou trilhas, progresso, XP, níveis e conquistas.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F7968471-1BD6-4378-A649-7CBC181A5113}"/>
              </a:ext>
            </a:extLst>
          </p:cNvPr>
          <p:cNvSpPr>
            <a:spLocks noGrp="1"/>
          </p:cNvSpPr>
          <p:nvPr/>
        </p:nvSpPr>
        <p:spPr>
          <a:xfrm>
            <a:off x="7524750" y="3429000"/>
            <a:ext cx="2381250" cy="1066800"/>
          </a:xfrm>
          <a:prstGeom prst="roundRect">
            <a:avLst>
              <a:gd name="adj" fmla="val 7143"/>
            </a:avLst>
          </a:prstGeom>
          <a:solidFill>
            <a:srgbClr val="ECEFE8"/>
          </a:solidFill>
          <a:ln w="19050">
            <a:solidFill>
              <a:srgbClr val="4E9F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B5F3F50A-BD60-4109-A4CE-630C4AAE59D7}"/>
              </a:ext>
            </a:extLst>
          </p:cNvPr>
          <p:cNvSpPr>
            <a:spLocks noGrp="1"/>
          </p:cNvSpPr>
          <p:nvPr/>
        </p:nvSpPr>
        <p:spPr>
          <a:xfrm>
            <a:off x="7696200" y="3619500"/>
            <a:ext cx="20383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 dirty="0" err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Gerou</a:t>
            </a:r>
            <a:r>
              <a:rPr sz="1350" b="1" dirty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base </a:t>
            </a:r>
            <a:r>
              <a:rPr sz="1350" b="1" dirty="0" err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técnica</a:t>
            </a:r>
            <a:r>
              <a:rPr sz="1350" b="1" dirty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 dirty="0" err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suficiente</a:t>
            </a:r>
            <a:r>
              <a:rPr sz="1350" b="1" dirty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para </a:t>
            </a:r>
            <a:r>
              <a:rPr sz="1350" b="1" dirty="0" err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pesquisa</a:t>
            </a:r>
            <a:r>
              <a:rPr sz="1350" b="1" dirty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 dirty="0" err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aplicada</a:t>
            </a:r>
            <a:r>
              <a:rPr sz="1350" b="1" dirty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e </a:t>
            </a:r>
            <a:r>
              <a:rPr sz="1350" b="1" dirty="0" err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futuro</a:t>
            </a:r>
            <a:r>
              <a:rPr sz="1350" b="1" dirty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TCC.</a:t>
            </a:r>
          </a:p>
        </p:txBody>
      </p:sp>
    </p:spTree>
    <p:extLst>
      <p:ext uri="{BB962C8B-B14F-4D97-AF65-F5344CB8AC3E}">
        <p14:creationId xmlns:p14="http://schemas.microsoft.com/office/powerpoint/2010/main" val="1483001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3F939D76-04E3-4DFE-A3AC-DFE4BF6A3A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33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4B0407E-D6DF-4A70-9940-D293D895E1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4E9F3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4567083-49F4-4622-9132-EF2EFA24E978}"/>
              </a:ext>
            </a:extLst>
          </p:cNvPr>
          <p:cNvSpPr>
            <a:spLocks noGrp="1"/>
          </p:cNvSpPr>
          <p:nvPr/>
        </p:nvSpPr>
        <p:spPr>
          <a:xfrm>
            <a:off x="5286375" y="0"/>
            <a:ext cx="1619250" cy="457200"/>
          </a:xfrm>
          <a:prstGeom prst="rect">
            <a:avLst/>
          </a:prstGeom>
          <a:solidFill>
            <a:srgbClr val="4E9F38"/>
          </a:solidFill>
          <a:ln w="19050">
            <a:solidFill>
              <a:srgbClr val="76B3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10B1737-A1DF-429A-954F-C34DA945926C}"/>
              </a:ext>
            </a:extLst>
          </p:cNvPr>
          <p:cNvSpPr>
            <a:spLocks noGrp="1"/>
          </p:cNvSpPr>
          <p:nvPr/>
        </p:nvSpPr>
        <p:spPr>
          <a:xfrm>
            <a:off x="5543550" y="123825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REFERÊNCIAS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C392251-9BA9-4B4A-BA2E-77059C1BE377}"/>
              </a:ext>
            </a:extLst>
          </p:cNvPr>
          <p:cNvSpPr>
            <a:spLocks noGrp="1"/>
          </p:cNvSpPr>
          <p:nvPr/>
        </p:nvSpPr>
        <p:spPr>
          <a:xfrm>
            <a:off x="533400" y="6400800"/>
            <a:ext cx="857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BEBEB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EBEBE"/>
                </a:solidFill>
                <a:latin typeface="Aptos"/>
                <a:ea typeface="Aptos"/>
                <a:cs typeface="Aptos"/>
              </a:rPr>
              <a:t>Corvis | Engenharia de Software - IFG | Projeto de Pesquisa e Inovação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4E02A7B-C823-47DB-91D6-392EB76EC244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609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BEBEB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EBEBE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FD2A1FF-3808-4113-B811-25DD38651F2E}"/>
              </a:ext>
            </a:extLst>
          </p:cNvPr>
          <p:cNvSpPr>
            <a:spLocks noGrp="1"/>
          </p:cNvSpPr>
          <p:nvPr/>
        </p:nvSpPr>
        <p:spPr>
          <a:xfrm>
            <a:off x="819150" y="876300"/>
            <a:ext cx="400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Referências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63AF866-64BC-4897-8943-F777C6639B28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10096500" cy="3714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200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- FARDO, Marcelo Luis. A gamificação aplicada em ambientes de aprendizagem. RENOTE, 2013.</a:t>
            </a:r>
          </a:p>
          <a:p>
            <a:pPr algn="l">
              <a:defRPr sz="1200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- AHMED, Hosnia M. M.; EL-SABAGH, Hassan A.; ELBOURHAMY, Doaa M. Effect of Gamified, Mobile, Cloud-Based LMS on student engagement and achievement. IJETHE, 2025.</a:t>
            </a:r>
          </a:p>
          <a:p>
            <a:pPr algn="l">
              <a:defRPr sz="1200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- KHALDI, Amina; BOUZIDI, Rokia; NADER, Fahima. Gamification of e-learning in higher education: a systematic literature review. Smart Learning Environments, 2023.</a:t>
            </a:r>
          </a:p>
          <a:p>
            <a:pPr algn="l">
              <a:defRPr sz="1200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- COSTA, Marcus Vinicius Silva; COSTA, Mauricio Jose Morais; BOTTENTUIT JUNIOR, João Batista. Gamificação e inovação na aprendizagem de programadores. RICS, 2024.</a:t>
            </a:r>
          </a:p>
          <a:p>
            <a:pPr algn="l">
              <a:defRPr sz="1200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- SABBAG, Deise; SOUSA, Dayane Teixeira de. Gamificação na organização do conhecimento. REBECIN, 2025.</a:t>
            </a:r>
          </a:p>
          <a:p>
            <a:pPr algn="l">
              <a:defRPr sz="1200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- Analise_Tecnica_Corvis.docx. Relatório técnico do projeto Corvis, 2026.</a:t>
            </a:r>
          </a:p>
        </p:txBody>
      </p:sp>
    </p:spTree>
    <p:extLst>
      <p:ext uri="{BB962C8B-B14F-4D97-AF65-F5344CB8AC3E}">
        <p14:creationId xmlns:p14="http://schemas.microsoft.com/office/powerpoint/2010/main" val="212043988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1115</Words>
  <Application>Microsoft Office PowerPoint</Application>
  <DocSecurity>0</DocSecurity>
  <PresentationFormat>Widescreen</PresentationFormat>
  <Paragraphs>146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Aptos</vt:lpstr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João Antonio André Barbosa Camilo</cp:lastModifiedBy>
  <cp:revision>1</cp:revision>
  <dcterms:created xsi:type="dcterms:W3CDTF">2026-06-25T02:47:58Z</dcterms:created>
  <dcterms:modified xsi:type="dcterms:W3CDTF">2026-06-25T02:59:55Z</dcterms:modified>
</cp:coreProperties>
</file>